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7" r:id="rId5"/>
    <p:sldId id="272" r:id="rId6"/>
    <p:sldId id="629" r:id="rId7"/>
    <p:sldId id="258" r:id="rId8"/>
    <p:sldId id="256" r:id="rId9"/>
    <p:sldId id="87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42" autoAdjust="0"/>
    <p:restoredTop sz="94660"/>
  </p:normalViewPr>
  <p:slideViewPr>
    <p:cSldViewPr snapToGrid="0">
      <p:cViewPr>
        <p:scale>
          <a:sx n="75" d="100"/>
          <a:sy n="75" d="100"/>
        </p:scale>
        <p:origin x="1083" y="3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esh Anuj" userId="S::divesha@spc.int::a6c02ee6-508a-458e-a54c-469147fc8a20" providerId="AD" clId="Web-{FFC8C734-1A0C-173D-AE1C-FDA51526887E}"/>
    <pc:docChg chg="modSld">
      <pc:chgData name="Divesh Anuj" userId="S::divesha@spc.int::a6c02ee6-508a-458e-a54c-469147fc8a20" providerId="AD" clId="Web-{FFC8C734-1A0C-173D-AE1C-FDA51526887E}" dt="2025-10-23T04:58:01.357" v="5" actId="1076"/>
      <pc:docMkLst>
        <pc:docMk/>
      </pc:docMkLst>
      <pc:sldChg chg="modSp">
        <pc:chgData name="Divesh Anuj" userId="S::divesha@spc.int::a6c02ee6-508a-458e-a54c-469147fc8a20" providerId="AD" clId="Web-{FFC8C734-1A0C-173D-AE1C-FDA51526887E}" dt="2025-10-23T04:27:48.687" v="0"/>
        <pc:sldMkLst>
          <pc:docMk/>
          <pc:sldMk cId="1209331134" sldId="256"/>
        </pc:sldMkLst>
        <pc:graphicFrameChg chg="modGraphic">
          <ac:chgData name="Divesh Anuj" userId="S::divesha@spc.int::a6c02ee6-508a-458e-a54c-469147fc8a20" providerId="AD" clId="Web-{FFC8C734-1A0C-173D-AE1C-FDA51526887E}" dt="2025-10-23T04:27:48.687" v="0"/>
          <ac:graphicFrameMkLst>
            <pc:docMk/>
            <pc:sldMk cId="1209331134" sldId="256"/>
            <ac:graphicFrameMk id="18" creationId="{2491EF8D-8DFE-4510-AB01-A3C3E7547558}"/>
          </ac:graphicFrameMkLst>
        </pc:graphicFrameChg>
      </pc:sldChg>
      <pc:sldChg chg="modSp">
        <pc:chgData name="Divesh Anuj" userId="S::divesha@spc.int::a6c02ee6-508a-458e-a54c-469147fc8a20" providerId="AD" clId="Web-{FFC8C734-1A0C-173D-AE1C-FDA51526887E}" dt="2025-10-23T04:44:50.055" v="3" actId="1076"/>
        <pc:sldMkLst>
          <pc:docMk/>
          <pc:sldMk cId="2390210772" sldId="258"/>
        </pc:sldMkLst>
        <pc:spChg chg="mod">
          <ac:chgData name="Divesh Anuj" userId="S::divesha@spc.int::a6c02ee6-508a-458e-a54c-469147fc8a20" providerId="AD" clId="Web-{FFC8C734-1A0C-173D-AE1C-FDA51526887E}" dt="2025-10-23T04:44:50.055" v="3" actId="1076"/>
          <ac:spMkLst>
            <pc:docMk/>
            <pc:sldMk cId="2390210772" sldId="258"/>
            <ac:spMk id="8" creationId="{31D51605-0D2A-0C40-863D-7B45CEEAA93D}"/>
          </ac:spMkLst>
        </pc:spChg>
        <pc:grpChg chg="mod">
          <ac:chgData name="Divesh Anuj" userId="S::divesha@spc.int::a6c02ee6-508a-458e-a54c-469147fc8a20" providerId="AD" clId="Web-{FFC8C734-1A0C-173D-AE1C-FDA51526887E}" dt="2025-10-23T04:41:25.536" v="2" actId="1076"/>
          <ac:grpSpMkLst>
            <pc:docMk/>
            <pc:sldMk cId="2390210772" sldId="258"/>
            <ac:grpSpMk id="36" creationId="{F46386EB-F740-1CF4-8280-5E7A39F9C613}"/>
          </ac:grpSpMkLst>
        </pc:grpChg>
        <pc:picChg chg="mod">
          <ac:chgData name="Divesh Anuj" userId="S::divesha@spc.int::a6c02ee6-508a-458e-a54c-469147fc8a20" providerId="AD" clId="Web-{FFC8C734-1A0C-173D-AE1C-FDA51526887E}" dt="2025-10-23T04:28:36.078" v="1" actId="1076"/>
          <ac:picMkLst>
            <pc:docMk/>
            <pc:sldMk cId="2390210772" sldId="258"/>
            <ac:picMk id="22" creationId="{EE7E8CF8-D83C-4272-97DC-22CEBD92AB34}"/>
          </ac:picMkLst>
        </pc:picChg>
      </pc:sldChg>
      <pc:sldChg chg="modSp">
        <pc:chgData name="Divesh Anuj" userId="S::divesha@spc.int::a6c02ee6-508a-458e-a54c-469147fc8a20" providerId="AD" clId="Web-{FFC8C734-1A0C-173D-AE1C-FDA51526887E}" dt="2025-10-23T04:58:01.357" v="5" actId="1076"/>
        <pc:sldMkLst>
          <pc:docMk/>
          <pc:sldMk cId="3145034209" sldId="629"/>
        </pc:sldMkLst>
        <pc:spChg chg="mod">
          <ac:chgData name="Divesh Anuj" userId="S::divesha@spc.int::a6c02ee6-508a-458e-a54c-469147fc8a20" providerId="AD" clId="Web-{FFC8C734-1A0C-173D-AE1C-FDA51526887E}" dt="2025-10-23T04:58:01.357" v="5" actId="1076"/>
          <ac:spMkLst>
            <pc:docMk/>
            <pc:sldMk cId="3145034209" sldId="629"/>
            <ac:spMk id="51" creationId="{BB506840-F53D-4897-90FF-BC03F4972584}"/>
          </ac:spMkLst>
        </pc:spChg>
      </pc:sldChg>
    </pc:docChg>
  </pc:docChgLst>
  <pc:docChgLst>
    <pc:chgData name="Herve Damlamian" userId="20f82102-8446-406b-ac88-427f60858333" providerId="ADAL" clId="{DEA677EF-C1FF-42BF-8A3B-9A7202C4E0D5}"/>
    <pc:docChg chg="modSld">
      <pc:chgData name="Herve Damlamian" userId="20f82102-8446-406b-ac88-427f60858333" providerId="ADAL" clId="{DEA677EF-C1FF-42BF-8A3B-9A7202C4E0D5}" dt="2025-11-07T00:35:50.082" v="5" actId="1076"/>
      <pc:docMkLst>
        <pc:docMk/>
      </pc:docMkLst>
      <pc:sldChg chg="modSp mod">
        <pc:chgData name="Herve Damlamian" userId="20f82102-8446-406b-ac88-427f60858333" providerId="ADAL" clId="{DEA677EF-C1FF-42BF-8A3B-9A7202C4E0D5}" dt="2025-11-07T00:35:50.082" v="5" actId="1076"/>
        <pc:sldMkLst>
          <pc:docMk/>
          <pc:sldMk cId="2390210772" sldId="258"/>
        </pc:sldMkLst>
        <pc:spChg chg="mod">
          <ac:chgData name="Herve Damlamian" userId="20f82102-8446-406b-ac88-427f60858333" providerId="ADAL" clId="{DEA677EF-C1FF-42BF-8A3B-9A7202C4E0D5}" dt="2025-11-06T20:30:46.961" v="0" actId="20577"/>
          <ac:spMkLst>
            <pc:docMk/>
            <pc:sldMk cId="2390210772" sldId="258"/>
            <ac:spMk id="7" creationId="{40320000-24B8-B97D-A4EA-8C6358F6C125}"/>
          </ac:spMkLst>
        </pc:spChg>
        <pc:spChg chg="mod">
          <ac:chgData name="Herve Damlamian" userId="20f82102-8446-406b-ac88-427f60858333" providerId="ADAL" clId="{DEA677EF-C1FF-42BF-8A3B-9A7202C4E0D5}" dt="2025-11-07T00:35:34.918" v="1" actId="1076"/>
          <ac:spMkLst>
            <pc:docMk/>
            <pc:sldMk cId="2390210772" sldId="258"/>
            <ac:spMk id="27" creationId="{AA21E262-9CD3-87FF-06E2-0C47ADB5697B}"/>
          </ac:spMkLst>
        </pc:spChg>
        <pc:spChg chg="mod">
          <ac:chgData name="Herve Damlamian" userId="20f82102-8446-406b-ac88-427f60858333" providerId="ADAL" clId="{DEA677EF-C1FF-42BF-8A3B-9A7202C4E0D5}" dt="2025-11-07T00:35:34.918" v="1" actId="1076"/>
          <ac:spMkLst>
            <pc:docMk/>
            <pc:sldMk cId="2390210772" sldId="258"/>
            <ac:spMk id="28" creationId="{81761E46-CF7A-1B0D-B716-2B5255D7FCE8}"/>
          </ac:spMkLst>
        </pc:spChg>
        <pc:spChg chg="mod">
          <ac:chgData name="Herve Damlamian" userId="20f82102-8446-406b-ac88-427f60858333" providerId="ADAL" clId="{DEA677EF-C1FF-42BF-8A3B-9A7202C4E0D5}" dt="2025-11-07T00:35:34.918" v="1" actId="1076"/>
          <ac:spMkLst>
            <pc:docMk/>
            <pc:sldMk cId="2390210772" sldId="258"/>
            <ac:spMk id="40" creationId="{2EFF4A89-C0A2-BD86-C6CC-BDA35C7B4D94}"/>
          </ac:spMkLst>
        </pc:spChg>
        <pc:spChg chg="mod">
          <ac:chgData name="Herve Damlamian" userId="20f82102-8446-406b-ac88-427f60858333" providerId="ADAL" clId="{DEA677EF-C1FF-42BF-8A3B-9A7202C4E0D5}" dt="2025-11-07T00:35:46.732" v="4" actId="1076"/>
          <ac:spMkLst>
            <pc:docMk/>
            <pc:sldMk cId="2390210772" sldId="258"/>
            <ac:spMk id="52" creationId="{C549AF84-FC02-F054-D46E-07D5482D3B52}"/>
          </ac:spMkLst>
        </pc:spChg>
        <pc:spChg chg="mod">
          <ac:chgData name="Herve Damlamian" userId="20f82102-8446-406b-ac88-427f60858333" providerId="ADAL" clId="{DEA677EF-C1FF-42BF-8A3B-9A7202C4E0D5}" dt="2025-11-07T00:35:41.776" v="3" actId="1076"/>
          <ac:spMkLst>
            <pc:docMk/>
            <pc:sldMk cId="2390210772" sldId="258"/>
            <ac:spMk id="53" creationId="{38AC6EC9-C82D-3738-6E60-9FED8151C958}"/>
          </ac:spMkLst>
        </pc:spChg>
        <pc:spChg chg="mod">
          <ac:chgData name="Herve Damlamian" userId="20f82102-8446-406b-ac88-427f60858333" providerId="ADAL" clId="{DEA677EF-C1FF-42BF-8A3B-9A7202C4E0D5}" dt="2025-11-07T00:35:50.082" v="5" actId="1076"/>
          <ac:spMkLst>
            <pc:docMk/>
            <pc:sldMk cId="2390210772" sldId="258"/>
            <ac:spMk id="54" creationId="{01B7E026-A53E-17A4-95AE-10BEF9EFE6C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F49A-649D-4E3B-8135-7A83FB35413D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B3E8B-6BCF-492A-8ABC-975506046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393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b="0"/>
              <a:t>Hello everybody – today I’ll deliver a talk describing the Pacific Risk Tool for Resilience Phase-2 project (or PARTneR-2), as well as progress towards key outcomes to date which support </a:t>
            </a:r>
            <a:r>
              <a:rPr lang="en-US" sz="1200" i="1"/>
              <a:t>S</a:t>
            </a:r>
            <a:r>
              <a:rPr lang="en-US" sz="1200"/>
              <a:t>trengthening Resilience in Pacific Island Countries through the use of Climate Risk Decision Support Tools</a:t>
            </a:r>
            <a:endParaRPr lang="en-NZ" sz="1200"/>
          </a:p>
          <a:p>
            <a:endParaRPr lang="en-NZ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A2EDF-B4A4-47DC-B427-8AFB0E4A94D0}" type="slidenum">
              <a:rPr lang="en-NZ" smtClean="0"/>
              <a:t>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05172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sz="1200" b="0">
                <a:solidFill>
                  <a:schemeClr val="accent1">
                    <a:lumMod val="75000"/>
                  </a:schemeClr>
                </a:solidFill>
              </a:rPr>
              <a:t>The focus of the PARTneR-2 project is on climatic hazard risks with delivery framed around 3 key information decision-support use cases: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200" b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en-NZ" b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National Climate Risk Profiles for Sea Level inundation under a warming climate</a:t>
            </a:r>
            <a:endParaRPr kumimoji="0" lang="en-NZ" sz="1200" b="1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200" b="0">
                <a:solidFill>
                  <a:schemeClr val="accent1">
                    <a:lumMod val="75000"/>
                  </a:schemeClr>
                </a:solidFill>
              </a:rPr>
              <a:t>2. </a:t>
            </a:r>
            <a:r>
              <a:rPr kumimoji="0" lang="en-NZ" sz="12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Tropical Cyclone Exposure Risk Forecast and Post-event Damage Information support -- </a:t>
            </a:r>
            <a:r>
              <a:rPr lang="en-NZ" sz="1200" b="0">
                <a:solidFill>
                  <a:schemeClr val="accent1">
                    <a:lumMod val="75000"/>
                  </a:schemeClr>
                </a:solidFill>
              </a:rPr>
              <a:t> which includes “</a:t>
            </a:r>
            <a:r>
              <a:rPr lang="en-NZ" sz="1100">
                <a:solidFill>
                  <a:schemeClr val="accent1">
                    <a:lumMod val="75000"/>
                  </a:schemeClr>
                </a:solidFill>
              </a:rPr>
              <a:t>Rapid Exposure-based Forecasts” and “Post-event Assessments to support Disaster IDA’s and PDNA’s” – for specific decision-support usage by NDMO’s and EOC’s in response and recovery activities.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sz="1100">
                <a:solidFill>
                  <a:schemeClr val="accent1">
                    <a:lumMod val="75000"/>
                  </a:schemeClr>
                </a:solidFill>
              </a:rPr>
              <a:t>3. </a:t>
            </a:r>
            <a:r>
              <a:rPr kumimoji="0" lang="en-NZ" sz="11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Drought </a:t>
            </a:r>
            <a:r>
              <a:rPr lang="en-NZ" sz="1600" b="1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risk monitoring to support water resources management</a:t>
            </a:r>
            <a:r>
              <a:rPr kumimoji="0" lang="en-NZ" sz="11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in atoll nations – specifically Tuvalu and RMI.</a:t>
            </a:r>
            <a:endParaRPr lang="en-NZ" sz="11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NZ" sz="1100">
                <a:solidFill>
                  <a:schemeClr val="accent1">
                    <a:lumMod val="75000"/>
                  </a:schemeClr>
                </a:solidFill>
              </a:rPr>
              <a:t>For the tropical cyclone use case -- given the complexity of TC hazards (i.e., wind, storm surge, river and overland flooding, </a:t>
            </a:r>
            <a:r>
              <a:rPr lang="en-NZ" sz="1100" err="1">
                <a:solidFill>
                  <a:schemeClr val="accent1">
                    <a:lumMod val="75000"/>
                  </a:schemeClr>
                </a:solidFill>
              </a:rPr>
              <a:t>landsliding</a:t>
            </a:r>
            <a:r>
              <a:rPr lang="en-NZ" sz="1100">
                <a:solidFill>
                  <a:schemeClr val="accent1">
                    <a:lumMod val="75000"/>
                  </a:schemeClr>
                </a:solidFill>
              </a:rPr>
              <a:t>, etc), an initial focus on “wind” and “flood” exposure-risk forecasts are being progressed as starting points through PARTneR-2.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9A2EDF-B4A4-47DC-B427-8AFB0E4A94D0}" type="slidenum">
              <a:rPr kumimoji="0" lang="en-NZ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NZ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300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Z" b="0"/>
              <a:t>Acknowledging the project team…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9A2EDF-B4A4-47DC-B427-8AFB0E4A94D0}" type="slidenum">
              <a:rPr lang="en-NZ" smtClean="0"/>
              <a:t>6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51915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EA01-433D-4D71-A6B2-34A850C35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9DA4C-2D1F-377B-EC03-5512E6AFF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E3200-7C0B-B397-3450-0A01FE29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3D3DB-92BD-8012-1356-B04378F8B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2B5D8-7C81-B967-6439-C22532FF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51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F1E5-268F-1FC3-5AAE-81DDF8F3A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D0EBA-41CE-893B-02C3-02257DB1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98CC1-4296-473E-4F40-75F6E974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3F5FF-C4C3-5E9E-630A-0A32633BD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6D1F4-8A68-2070-F821-CBCDAC32A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436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C9DE-31F5-C7DD-B1AD-D23A7FFF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3C6DF-F306-434E-0216-A62D3D98B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87458-D56A-30FD-09B0-2EAC75A4E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11CF9-9C4E-4BE7-5B04-728D63C9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BBA9-E281-D54F-3550-EA6AAD2B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830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4C5BB-B927-B769-D97C-F8CA86AC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9DF7-E7AD-E2A8-5AAC-1D4E610A9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F7DAA-34ED-A236-9824-5E04E6772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B2C14C-A8DD-5060-51B3-47D001DB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7B6E28-4D61-1144-CCAC-70A153416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16C96-A6CA-D183-BEB8-FE80963DA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76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F44B-7FFF-B2D8-67CA-5CBC4AB07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6033F-CB8B-1903-2BE7-794F26207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65A39-BD92-7A08-5AAA-C95EEB500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891616-4878-D2D9-0438-D55B15266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1A9A6-BB67-2BDF-F46D-7879185D3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E0B79-80C3-1C1E-DA46-627AE2835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9A504-B2F7-AF34-57DE-3C27C459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FF6A1-E73F-769E-AF24-C082508A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8436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A893-0C76-040D-1509-CAC446631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79A7DE-26BC-0A8B-8263-758912A1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6653A-9BBA-54BB-0A79-6DBC1C13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161E4-7370-1E22-B2D1-1CE4BB26D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73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CE9AB7-AA1F-AA09-BAE0-626776F7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466376-8D03-904A-A3B9-10AE0CFF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987EA-4C14-960D-26F3-87DD6890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3038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219C-10AD-8F86-0BAF-9A38119F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4415A-9FC8-B3C0-88B2-9091C12B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ADD7E-7CDD-FF30-DDFE-FCA46A4AD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3A060F-34A9-2D68-7883-8DB5B2666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A917E-4237-5F34-2F4B-17A8C9C9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0E038-32C9-1992-79A4-55EA98596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501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8087-46D1-3C3C-6E9F-43061342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FE423-6FC9-94DC-CDB7-F58DB072A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5830B-7E07-2475-368C-701D407A7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5056F-E99B-37AD-322B-F87C4BDC7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487CA-B68B-ECC6-28A7-3600C72B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9C01B-2179-2B7C-2D14-7DDB5D67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3051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AEBF-7C20-4424-0F3E-E5DB618C1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D897E-F2C4-45D9-4EED-F1C0B144B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EBC66-A9B5-9F8F-5909-7A6F1AE4F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F4816-0A56-A80D-43B5-490F0D0AB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2EBA8-1208-981B-ADC4-A9907FCE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1465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BCE67-3929-B1F9-46BF-1808BEBD0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40492-A54F-E852-6AAB-F9A2DD0F2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1713B-7211-6B54-6594-748ADCD03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9AA38-4B5D-6ED5-AA86-E2EBB0C79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A58D5-C8CF-FEDA-333C-B68DCF28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7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D036A2-F52E-9932-F42D-AA7FE4499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593D-15A0-438E-C2D4-5E612D0EE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FFC1-BDCC-C07D-1113-38473F38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04D7E-501B-4F83-B2C9-101BD256CBF6}" type="datetimeFigureOut">
              <a:rPr lang="en-AU" smtClean="0"/>
              <a:t>7/11/2025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8FB32-3F5B-FD65-DB9D-EB65E6E93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CD91E-44E3-2199-F61A-AC7EEB523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72D2E-AA98-4337-802E-82CC8BDB49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524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286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72D11B-BEA9-2522-DBA7-C9938B3719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1999" cy="68554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A4A16C-1538-4543-9450-B172C04C84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3586"/>
            <a:ext cx="8823270" cy="2206465"/>
          </a:xfrm>
        </p:spPr>
        <p:txBody>
          <a:bodyPr>
            <a:normAutofit/>
          </a:bodyPr>
          <a:lstStyle/>
          <a:p>
            <a:r>
              <a:rPr lang="en-NZ" sz="3600" dirty="0" err="1">
                <a:latin typeface="Cambria" panose="02040503050406030204" pitchFamily="18" charset="0"/>
                <a:ea typeface="Cambria" panose="02040503050406030204" pitchFamily="18" charset="0"/>
              </a:rPr>
              <a:t>PARTneR</a:t>
            </a:r>
            <a:r>
              <a:rPr lang="en-NZ" sz="3600" dirty="0">
                <a:latin typeface="Cambria" panose="02040503050406030204" pitchFamily="18" charset="0"/>
                <a:ea typeface="Cambria" panose="02040503050406030204" pitchFamily="18" charset="0"/>
              </a:rPr>
              <a:t>-II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DAC25-E36C-46B3-840F-61A0CF4C6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4815" y="2952403"/>
            <a:ext cx="8852454" cy="16557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NZ" sz="2800" b="1" dirty="0"/>
              <a:t>Pacific Risk Tool for Resilience (</a:t>
            </a:r>
            <a:r>
              <a:rPr lang="en-NZ" sz="2800" b="1" dirty="0" err="1"/>
              <a:t>PARTneR</a:t>
            </a:r>
            <a:r>
              <a:rPr lang="en-NZ" sz="2800" b="1" dirty="0"/>
              <a:t>) Project, Phase 2 </a:t>
            </a:r>
          </a:p>
          <a:p>
            <a:endParaRPr lang="en-NZ" sz="2800" b="1" dirty="0"/>
          </a:p>
          <a:p>
            <a:r>
              <a:rPr lang="en-US" sz="2800" i="1" dirty="0"/>
              <a:t>S</a:t>
            </a:r>
            <a:r>
              <a:rPr lang="en-US" sz="2800" dirty="0"/>
              <a:t>trengthening Resilience in Pacific Island Countries through the use of Climate Risk Decision Support Tools</a:t>
            </a:r>
            <a:endParaRPr lang="en-NZ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8168B5-7167-4651-A46C-30205DA06C6C}"/>
              </a:ext>
            </a:extLst>
          </p:cNvPr>
          <p:cNvPicPr/>
          <p:nvPr/>
        </p:nvPicPr>
        <p:blipFill>
          <a:blip r:embed="rId4" cstate="print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219" y="251386"/>
            <a:ext cx="1941647" cy="1843757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22A04E0-0D9D-3856-F8BA-B6F293C0EC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373"/>
          <a:stretch/>
        </p:blipFill>
        <p:spPr bwMode="auto">
          <a:xfrm>
            <a:off x="0" y="5853940"/>
            <a:ext cx="6504972" cy="1001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0C344F-C990-4C78-F83C-C3D89F56D8B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504972" y="5853939"/>
            <a:ext cx="5687029" cy="100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9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86B80C-2A1E-4BDA-9C6B-248E90714908}"/>
              </a:ext>
            </a:extLst>
          </p:cNvPr>
          <p:cNvSpPr/>
          <p:nvPr/>
        </p:nvSpPr>
        <p:spPr>
          <a:xfrm>
            <a:off x="105284" y="1148835"/>
            <a:ext cx="3406175" cy="570082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35ED6-3935-4704-BC6E-C2377A14EBBF}"/>
              </a:ext>
            </a:extLst>
          </p:cNvPr>
          <p:cNvSpPr txBox="1"/>
          <p:nvPr/>
        </p:nvSpPr>
        <p:spPr>
          <a:xfrm>
            <a:off x="319247" y="1215425"/>
            <a:ext cx="2728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116BCB-E681-44A2-82D4-4CF1B77C6E67}"/>
              </a:ext>
            </a:extLst>
          </p:cNvPr>
          <p:cNvSpPr txBox="1"/>
          <p:nvPr/>
        </p:nvSpPr>
        <p:spPr>
          <a:xfrm>
            <a:off x="319247" y="2063812"/>
            <a:ext cx="2545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 Disaster Risk Assessment capacity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B5BE0-7DB2-4ECD-AB16-267050DA8B33}"/>
              </a:ext>
            </a:extLst>
          </p:cNvPr>
          <p:cNvSpPr txBox="1"/>
          <p:nvPr/>
        </p:nvSpPr>
        <p:spPr>
          <a:xfrm>
            <a:off x="404861" y="4375553"/>
            <a:ext cx="2460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Building national systems to strengthen Disaster risk knowledge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61D36B-713F-4DCE-109C-F4EA7CBACEAD}"/>
              </a:ext>
            </a:extLst>
          </p:cNvPr>
          <p:cNvGrpSpPr/>
          <p:nvPr/>
        </p:nvGrpSpPr>
        <p:grpSpPr>
          <a:xfrm>
            <a:off x="4913070" y="2726623"/>
            <a:ext cx="7278930" cy="4083906"/>
            <a:chOff x="4913070" y="2040205"/>
            <a:chExt cx="7278930" cy="408390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A9B1CDE-65DF-47FE-9624-FAD970275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3070" y="2040205"/>
              <a:ext cx="7278930" cy="408390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C2E976-D9EC-4F27-87E7-DADFD951A20C}"/>
                </a:ext>
              </a:extLst>
            </p:cNvPr>
            <p:cNvSpPr txBox="1"/>
            <p:nvPr/>
          </p:nvSpPr>
          <p:spPr>
            <a:xfrm>
              <a:off x="6525688" y="2784800"/>
              <a:ext cx="1907458" cy="528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Republic of the Marshall Islands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A362032-6FEE-4F20-BC2A-51796909A01F}"/>
                </a:ext>
              </a:extLst>
            </p:cNvPr>
            <p:cNvSpPr txBox="1"/>
            <p:nvPr/>
          </p:nvSpPr>
          <p:spPr>
            <a:xfrm>
              <a:off x="6822413" y="4787145"/>
              <a:ext cx="1907458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Vanuatu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513781C-5B9A-4733-B541-292B04AAECA0}"/>
                </a:ext>
              </a:extLst>
            </p:cNvPr>
            <p:cNvSpPr txBox="1"/>
            <p:nvPr/>
          </p:nvSpPr>
          <p:spPr>
            <a:xfrm>
              <a:off x="7776142" y="3948600"/>
              <a:ext cx="1907458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Tuvalu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7F2FD2-1312-495F-9A1D-B49E1BA416F0}"/>
                </a:ext>
              </a:extLst>
            </p:cNvPr>
            <p:cNvSpPr txBox="1"/>
            <p:nvPr/>
          </p:nvSpPr>
          <p:spPr>
            <a:xfrm>
              <a:off x="8348210" y="4530820"/>
              <a:ext cx="1907458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Samoa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DC33DC1-70CA-45A5-9FB7-CD06B0992733}"/>
                </a:ext>
              </a:extLst>
            </p:cNvPr>
            <p:cNvSpPr txBox="1"/>
            <p:nvPr/>
          </p:nvSpPr>
          <p:spPr>
            <a:xfrm>
              <a:off x="8128803" y="5346697"/>
              <a:ext cx="1907458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Tonga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B506840-F53D-4897-90FF-BC03F4972584}"/>
                </a:ext>
              </a:extLst>
            </p:cNvPr>
            <p:cNvSpPr txBox="1"/>
            <p:nvPr/>
          </p:nvSpPr>
          <p:spPr>
            <a:xfrm>
              <a:off x="8773001" y="4310555"/>
              <a:ext cx="1907458" cy="3032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14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Cook Islands</a:t>
              </a:r>
            </a:p>
          </p:txBody>
        </p:sp>
        <p:pic>
          <p:nvPicPr>
            <p:cNvPr id="27" name="Graphic 26" descr="Lightning with solid fill">
              <a:extLst>
                <a:ext uri="{FF2B5EF4-FFF2-40B4-BE49-F238E27FC236}">
                  <a16:creationId xmlns:a16="http://schemas.microsoft.com/office/drawing/2014/main" id="{37A15FC5-382E-AFDF-0FFA-9DD5E410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91145" y="4888324"/>
              <a:ext cx="707319" cy="707319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BF2F3BF-8F9D-EB33-01C0-43743601CB5C}"/>
              </a:ext>
            </a:extLst>
          </p:cNvPr>
          <p:cNvSpPr txBox="1"/>
          <p:nvPr/>
        </p:nvSpPr>
        <p:spPr>
          <a:xfrm>
            <a:off x="319247" y="3035310"/>
            <a:ext cx="25457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Strengthen Institutional capacity to make risk informed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8B915-4FF1-E822-ED37-CE85BF1A2361}"/>
              </a:ext>
            </a:extLst>
          </p:cNvPr>
          <p:cNvSpPr txBox="1"/>
          <p:nvPr/>
        </p:nvSpPr>
        <p:spPr>
          <a:xfrm>
            <a:off x="404861" y="5648672"/>
            <a:ext cx="2460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Foster peer to peer learning</a:t>
            </a:r>
          </a:p>
        </p:txBody>
      </p:sp>
    </p:spTree>
    <p:extLst>
      <p:ext uri="{BB962C8B-B14F-4D97-AF65-F5344CB8AC3E}">
        <p14:creationId xmlns:p14="http://schemas.microsoft.com/office/powerpoint/2010/main" val="3145034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9A56-CCC3-DCAF-C14E-07455329F5A1}"/>
              </a:ext>
            </a:extLst>
          </p:cNvPr>
          <p:cNvSpPr txBox="1"/>
          <p:nvPr/>
        </p:nvSpPr>
        <p:spPr>
          <a:xfrm>
            <a:off x="-3657913" y="102023"/>
            <a:ext cx="10542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IDA/PDNA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DEE8-4635-F846-1C34-36252EA1803B}"/>
              </a:ext>
            </a:extLst>
          </p:cNvPr>
          <p:cNvSpPr/>
          <p:nvPr/>
        </p:nvSpPr>
        <p:spPr>
          <a:xfrm>
            <a:off x="2258598" y="1319674"/>
            <a:ext cx="6351991" cy="46383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6386EB-F740-1CF4-8280-5E7A39F9C613}"/>
              </a:ext>
            </a:extLst>
          </p:cNvPr>
          <p:cNvGrpSpPr/>
          <p:nvPr/>
        </p:nvGrpSpPr>
        <p:grpSpPr>
          <a:xfrm>
            <a:off x="145422" y="1191500"/>
            <a:ext cx="2109482" cy="4657682"/>
            <a:chOff x="68812" y="4238246"/>
            <a:chExt cx="2347887" cy="328352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E40676-D3D8-0E65-3C34-E244DCB3C9F9}"/>
                </a:ext>
              </a:extLst>
            </p:cNvPr>
            <p:cNvSpPr/>
            <p:nvPr/>
          </p:nvSpPr>
          <p:spPr>
            <a:xfrm>
              <a:off x="68812" y="4238246"/>
              <a:ext cx="2269375" cy="328352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effectLst>
              <a:softEdge rad="254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320000-24B8-B97D-A4EA-8C6358F6C125}"/>
                </a:ext>
              </a:extLst>
            </p:cNvPr>
            <p:cNvSpPr txBox="1"/>
            <p:nvPr/>
          </p:nvSpPr>
          <p:spPr>
            <a:xfrm>
              <a:off x="141617" y="4319594"/>
              <a:ext cx="1581498" cy="6726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b="1" dirty="0">
                  <a:solidFill>
                    <a:schemeClr val="accent2">
                      <a:lumMod val="75000"/>
                    </a:schemeClr>
                  </a:solidFill>
                </a:rPr>
                <a:t>(Filter options)</a:t>
              </a:r>
            </a:p>
            <a:p>
              <a:r>
                <a:rPr lang="en-AU" b="1" dirty="0"/>
                <a:t>Hazard</a:t>
              </a:r>
              <a:r>
                <a:rPr lang="en-AU" dirty="0"/>
                <a:t> </a:t>
              </a:r>
            </a:p>
            <a:p>
              <a:r>
                <a:rPr lang="en-AU" sz="1200" dirty="0"/>
                <a:t> Wind</a:t>
              </a:r>
            </a:p>
            <a:p>
              <a:r>
                <a:rPr lang="en-AU" sz="1200" i="1" dirty="0"/>
                <a:t>C Inundation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D51605-0D2A-0C40-863D-7B45CEEAA93D}"/>
                </a:ext>
              </a:extLst>
            </p:cNvPr>
            <p:cNvSpPr txBox="1"/>
            <p:nvPr/>
          </p:nvSpPr>
          <p:spPr>
            <a:xfrm>
              <a:off x="126116" y="5118231"/>
              <a:ext cx="2290583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b="1" dirty="0"/>
                <a:t>Clusters</a:t>
              </a:r>
            </a:p>
            <a:p>
              <a:r>
                <a:rPr lang="en-AU" sz="1200" dirty="0"/>
                <a:t>Agriculture</a:t>
              </a:r>
            </a:p>
            <a:p>
              <a:r>
                <a:rPr lang="en-AU" sz="1200" dirty="0"/>
                <a:t>Social</a:t>
              </a:r>
            </a:p>
            <a:p>
              <a:r>
                <a:rPr lang="en-AU" sz="1200" dirty="0"/>
                <a:t>Health</a:t>
              </a:r>
            </a:p>
            <a:p>
              <a:endParaRPr lang="en-AU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8E228AE-05FA-6806-4262-764BAA605C92}"/>
                </a:ext>
              </a:extLst>
            </p:cNvPr>
            <p:cNvSpPr txBox="1"/>
            <p:nvPr/>
          </p:nvSpPr>
          <p:spPr>
            <a:xfrm>
              <a:off x="123706" y="6147857"/>
              <a:ext cx="2101737" cy="62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600" b="1" dirty="0"/>
                <a:t>Aggregation unit</a:t>
              </a:r>
            </a:p>
            <a:p>
              <a:r>
                <a:rPr lang="en-AU" sz="1200" dirty="0"/>
                <a:t>Districts</a:t>
              </a:r>
            </a:p>
            <a:p>
              <a:r>
                <a:rPr lang="en-AU" sz="1200" dirty="0"/>
                <a:t>Province</a:t>
              </a:r>
            </a:p>
            <a:p>
              <a:r>
                <a:rPr lang="en-AU" sz="1200" dirty="0"/>
                <a:t>National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44BBD97-B871-1BE3-AE53-ED4104F6EEAE}"/>
              </a:ext>
            </a:extLst>
          </p:cNvPr>
          <p:cNvSpPr txBox="1"/>
          <p:nvPr/>
        </p:nvSpPr>
        <p:spPr>
          <a:xfrm>
            <a:off x="5104315" y="1255367"/>
            <a:ext cx="2472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Map Box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97E5C-2229-BD2C-5701-E1F72C6CD562}"/>
              </a:ext>
            </a:extLst>
          </p:cNvPr>
          <p:cNvSpPr/>
          <p:nvPr/>
        </p:nvSpPr>
        <p:spPr>
          <a:xfrm>
            <a:off x="8560195" y="46890"/>
            <a:ext cx="3631805" cy="276535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61628-025E-F5BD-6D94-416621EC1E1A}"/>
              </a:ext>
            </a:extLst>
          </p:cNvPr>
          <p:cNvSpPr txBox="1"/>
          <p:nvPr/>
        </p:nvSpPr>
        <p:spPr>
          <a:xfrm>
            <a:off x="8833663" y="163461"/>
            <a:ext cx="296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National level summary</a:t>
            </a:r>
            <a:endParaRPr lang="en-AU" sz="1200" dirty="0"/>
          </a:p>
        </p:txBody>
      </p:sp>
      <p:sp>
        <p:nvSpPr>
          <p:cNvPr id="19" name="AutoShape 2" descr="A pie chart showing the various socio-economic sectors that benefited from CSR of mining companies (adapted from Ghana Chamber of Mines, 2012). ">
            <a:extLst>
              <a:ext uri="{FF2B5EF4-FFF2-40B4-BE49-F238E27FC236}">
                <a16:creationId xmlns:a16="http://schemas.microsoft.com/office/drawing/2014/main" id="{FA5ACADD-EBE5-2729-B462-3BD71DAB79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7E8CF8-D83C-4272-97DC-22CEBD92AB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1" r="51194"/>
          <a:stretch/>
        </p:blipFill>
        <p:spPr>
          <a:xfrm>
            <a:off x="2258598" y="1523131"/>
            <a:ext cx="6334645" cy="436233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3B490B-1D6C-0EA2-6A33-89A5FCF14FE2}"/>
              </a:ext>
            </a:extLst>
          </p:cNvPr>
          <p:cNvSpPr/>
          <p:nvPr/>
        </p:nvSpPr>
        <p:spPr>
          <a:xfrm>
            <a:off x="2651195" y="1881154"/>
            <a:ext cx="3824876" cy="3643967"/>
          </a:xfrm>
          <a:custGeom>
            <a:avLst/>
            <a:gdLst>
              <a:gd name="connsiteX0" fmla="*/ 0 w 4504623"/>
              <a:gd name="connsiteY0" fmla="*/ 4109417 h 4109417"/>
              <a:gd name="connsiteX1" fmla="*/ 490889 w 4504623"/>
              <a:gd name="connsiteY1" fmla="*/ 3483774 h 4109417"/>
              <a:gd name="connsiteX2" fmla="*/ 1848051 w 4504623"/>
              <a:gd name="connsiteY2" fmla="*/ 2887008 h 4109417"/>
              <a:gd name="connsiteX3" fmla="*/ 2666198 w 4504623"/>
              <a:gd name="connsiteY3" fmla="*/ 2424996 h 4109417"/>
              <a:gd name="connsiteX4" fmla="*/ 2858703 w 4504623"/>
              <a:gd name="connsiteY4" fmla="*/ 1712726 h 4109417"/>
              <a:gd name="connsiteX5" fmla="*/ 2935706 w 4504623"/>
              <a:gd name="connsiteY5" fmla="*/ 644322 h 4109417"/>
              <a:gd name="connsiteX6" fmla="*/ 3484346 w 4504623"/>
              <a:gd name="connsiteY6" fmla="*/ 47556 h 4109417"/>
              <a:gd name="connsiteX7" fmla="*/ 4504623 w 4504623"/>
              <a:gd name="connsiteY7" fmla="*/ 37930 h 4109417"/>
              <a:gd name="connsiteX8" fmla="*/ 4504623 w 4504623"/>
              <a:gd name="connsiteY8" fmla="*/ 37930 h 410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4623" h="4109417">
                <a:moveTo>
                  <a:pt x="0" y="4109417"/>
                </a:moveTo>
                <a:cubicBezTo>
                  <a:pt x="91440" y="3898463"/>
                  <a:pt x="182881" y="3687509"/>
                  <a:pt x="490889" y="3483774"/>
                </a:cubicBezTo>
                <a:cubicBezTo>
                  <a:pt x="798897" y="3280039"/>
                  <a:pt x="1485500" y="3063471"/>
                  <a:pt x="1848051" y="2887008"/>
                </a:cubicBezTo>
                <a:cubicBezTo>
                  <a:pt x="2210602" y="2710545"/>
                  <a:pt x="2497756" y="2620710"/>
                  <a:pt x="2666198" y="2424996"/>
                </a:cubicBezTo>
                <a:cubicBezTo>
                  <a:pt x="2834640" y="2229282"/>
                  <a:pt x="2813785" y="2009505"/>
                  <a:pt x="2858703" y="1712726"/>
                </a:cubicBezTo>
                <a:cubicBezTo>
                  <a:pt x="2903621" y="1415947"/>
                  <a:pt x="2831432" y="921850"/>
                  <a:pt x="2935706" y="644322"/>
                </a:cubicBezTo>
                <a:cubicBezTo>
                  <a:pt x="3039980" y="366794"/>
                  <a:pt x="3222860" y="148621"/>
                  <a:pt x="3484346" y="47556"/>
                </a:cubicBezTo>
                <a:cubicBezTo>
                  <a:pt x="3745832" y="-53509"/>
                  <a:pt x="4504623" y="37930"/>
                  <a:pt x="4504623" y="37930"/>
                </a:cubicBezTo>
                <a:lnTo>
                  <a:pt x="4504623" y="37930"/>
                </a:lnTo>
              </a:path>
            </a:pathLst>
          </a:cu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28" name="Picture 4" descr=" Typhoon, Cyclone, Hurricane and Storm Vector Illustrations.A collection of vector illustrations depicting different types of tropical storms, typhoons best for educational, scientific,or artistic use">
            <a:extLst>
              <a:ext uri="{FF2B5EF4-FFF2-40B4-BE49-F238E27FC236}">
                <a16:creationId xmlns:a16="http://schemas.microsoft.com/office/drawing/2014/main" id="{86A43D89-47AE-39F8-4B75-7564742290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68" t="47214" r="16433" b="24636"/>
          <a:stretch/>
        </p:blipFill>
        <p:spPr bwMode="auto">
          <a:xfrm>
            <a:off x="3240031" y="82039"/>
            <a:ext cx="765772" cy="85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62F0864-CE8C-B4F6-8E11-558CF29119E8}"/>
              </a:ext>
            </a:extLst>
          </p:cNvPr>
          <p:cNvSpPr/>
          <p:nvPr/>
        </p:nvSpPr>
        <p:spPr>
          <a:xfrm>
            <a:off x="236137" y="635316"/>
            <a:ext cx="2532302" cy="5508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TC EVENT current and archived (list)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21E262-9CD3-87FF-06E2-0C47ADB5697B}"/>
              </a:ext>
            </a:extLst>
          </p:cNvPr>
          <p:cNvSpPr/>
          <p:nvPr/>
        </p:nvSpPr>
        <p:spPr>
          <a:xfrm>
            <a:off x="5366437" y="6050019"/>
            <a:ext cx="3002860" cy="473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Upload Impact Evidences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61E46-CF7A-1B0D-B716-2B5255D7FCE8}"/>
              </a:ext>
            </a:extLst>
          </p:cNvPr>
          <p:cNvSpPr/>
          <p:nvPr/>
        </p:nvSpPr>
        <p:spPr>
          <a:xfrm>
            <a:off x="2768439" y="6075679"/>
            <a:ext cx="2335876" cy="473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Generate PDF report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AC703C-BFCB-8F60-70DE-5EC2F986A9F9}"/>
              </a:ext>
            </a:extLst>
          </p:cNvPr>
          <p:cNvSpPr/>
          <p:nvPr/>
        </p:nvSpPr>
        <p:spPr>
          <a:xfrm>
            <a:off x="8558028" y="4840450"/>
            <a:ext cx="3633972" cy="20175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5CA4176-977F-08CD-78C8-148A310B97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2744" y="5479661"/>
            <a:ext cx="2423965" cy="1328179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43354C0F-A999-3384-0D5D-959B1725F033}"/>
              </a:ext>
            </a:extLst>
          </p:cNvPr>
          <p:cNvSpPr/>
          <p:nvPr/>
        </p:nvSpPr>
        <p:spPr>
          <a:xfrm>
            <a:off x="8558029" y="2674428"/>
            <a:ext cx="3631806" cy="22351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04A66FC-FE50-9C10-2241-1B1D3B5F0907}"/>
              </a:ext>
            </a:extLst>
          </p:cNvPr>
          <p:cNvSpPr txBox="1"/>
          <p:nvPr/>
        </p:nvSpPr>
        <p:spPr>
          <a:xfrm>
            <a:off x="8681129" y="2726398"/>
            <a:ext cx="3728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Interactive Exposure– based on filters (pie/bar)</a:t>
            </a:r>
          </a:p>
          <a:p>
            <a:endParaRPr lang="en-AU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65050B76-9BF3-5387-A9AB-B9335C851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892" y="3408964"/>
            <a:ext cx="2423965" cy="1328179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EFF4A89-C0A2-BD86-C6CC-BDA35C7B4D94}"/>
              </a:ext>
            </a:extLst>
          </p:cNvPr>
          <p:cNvSpPr/>
          <p:nvPr/>
        </p:nvSpPr>
        <p:spPr>
          <a:xfrm>
            <a:off x="229631" y="6077512"/>
            <a:ext cx="2335876" cy="473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Download Data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EEFED19-EB77-41D8-6B19-F408540A1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9344" y="221530"/>
            <a:ext cx="1197225" cy="59861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35BE41BC-7C1B-7DDF-6B54-49B4ECAF295C}"/>
              </a:ext>
            </a:extLst>
          </p:cNvPr>
          <p:cNvSpPr txBox="1"/>
          <p:nvPr/>
        </p:nvSpPr>
        <p:spPr>
          <a:xfrm>
            <a:off x="8710295" y="502837"/>
            <a:ext cx="332727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- </a:t>
            </a:r>
            <a:r>
              <a:rPr lang="en-AU" sz="1600" b="1" dirty="0"/>
              <a:t>TC Lola – IDA 2023</a:t>
            </a:r>
          </a:p>
          <a:p>
            <a:r>
              <a:rPr lang="en-AU" sz="1600" b="1" dirty="0"/>
              <a:t>- Estimated damage – USD $2000M</a:t>
            </a:r>
          </a:p>
          <a:p>
            <a:r>
              <a:rPr lang="en-AU" sz="1600" b="1" dirty="0"/>
              <a:t>- People affected – 34K </a:t>
            </a:r>
          </a:p>
          <a:p>
            <a:endParaRPr lang="en-AU" sz="1400" dirty="0"/>
          </a:p>
          <a:p>
            <a:r>
              <a:rPr lang="en-AU" sz="1400" dirty="0"/>
              <a:t>Health sector</a:t>
            </a:r>
          </a:p>
          <a:p>
            <a:r>
              <a:rPr lang="en-AU" sz="1400" dirty="0"/>
              <a:t>  </a:t>
            </a:r>
          </a:p>
          <a:p>
            <a:r>
              <a:rPr lang="en-AU" sz="1400" dirty="0"/>
              <a:t>Agriculture</a:t>
            </a:r>
          </a:p>
          <a:p>
            <a:endParaRPr lang="en-AU" sz="1400" dirty="0"/>
          </a:p>
          <a:p>
            <a:r>
              <a:rPr lang="en-AU" sz="1400" dirty="0"/>
              <a:t>WASH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9B59A4-3141-15AF-15D8-704C5C69B011}"/>
              </a:ext>
            </a:extLst>
          </p:cNvPr>
          <p:cNvSpPr/>
          <p:nvPr/>
        </p:nvSpPr>
        <p:spPr>
          <a:xfrm>
            <a:off x="10449092" y="1942197"/>
            <a:ext cx="192506" cy="2021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DD55463-56EF-8C1E-ACE6-D8A4E374720C}"/>
              </a:ext>
            </a:extLst>
          </p:cNvPr>
          <p:cNvSpPr/>
          <p:nvPr/>
        </p:nvSpPr>
        <p:spPr>
          <a:xfrm>
            <a:off x="10440545" y="2337290"/>
            <a:ext cx="192506" cy="20213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D73207-A5E1-378E-9241-B9F3701763AD}"/>
              </a:ext>
            </a:extLst>
          </p:cNvPr>
          <p:cNvSpPr/>
          <p:nvPr/>
        </p:nvSpPr>
        <p:spPr>
          <a:xfrm>
            <a:off x="10440545" y="1523634"/>
            <a:ext cx="192506" cy="20213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1F957852-5C15-ADAE-3B56-74BBF0E11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4443" y="4466532"/>
            <a:ext cx="2665700" cy="1438694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28FBC83-F967-64B9-3701-37E6B1B0FB0A}"/>
              </a:ext>
            </a:extLst>
          </p:cNvPr>
          <p:cNvSpPr txBox="1"/>
          <p:nvPr/>
        </p:nvSpPr>
        <p:spPr>
          <a:xfrm>
            <a:off x="8658874" y="4857820"/>
            <a:ext cx="3728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Interactive Eco Damage– based on filters (pie/bar)</a:t>
            </a:r>
          </a:p>
          <a:p>
            <a:endParaRPr lang="en-AU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549AF84-FC02-F054-D46E-07D5482D3B52}"/>
              </a:ext>
            </a:extLst>
          </p:cNvPr>
          <p:cNvSpPr txBox="1"/>
          <p:nvPr/>
        </p:nvSpPr>
        <p:spPr>
          <a:xfrm>
            <a:off x="2868530" y="6537762"/>
            <a:ext cx="803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Country PDNA format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8AC6EC9-C82D-3738-6E60-9FED8151C958}"/>
              </a:ext>
            </a:extLst>
          </p:cNvPr>
          <p:cNvSpPr txBox="1"/>
          <p:nvPr/>
        </p:nvSpPr>
        <p:spPr>
          <a:xfrm>
            <a:off x="320346" y="6511260"/>
            <a:ext cx="803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excel spreadsheet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B7E026-A53E-17A4-95AE-10BEF9EFE6C2}"/>
              </a:ext>
            </a:extLst>
          </p:cNvPr>
          <p:cNvSpPr txBox="1"/>
          <p:nvPr/>
        </p:nvSpPr>
        <p:spPr>
          <a:xfrm>
            <a:off x="5804443" y="6537762"/>
            <a:ext cx="8032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PCRAFI2 standards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B866B3C-4A6D-3C0E-833B-24E551A0AE3E}"/>
              </a:ext>
            </a:extLst>
          </p:cNvPr>
          <p:cNvSpPr/>
          <p:nvPr/>
        </p:nvSpPr>
        <p:spPr>
          <a:xfrm>
            <a:off x="11827302" y="5490143"/>
            <a:ext cx="241778" cy="23327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DA794594-E73E-0061-A759-ED53F693F2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44358" y="5423678"/>
            <a:ext cx="495300" cy="3238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831DE14D-582A-6C24-EF4E-A8BA1DFA41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25115" y="3364756"/>
            <a:ext cx="4953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10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6E9A56-CCC3-DCAF-C14E-07455329F5A1}"/>
              </a:ext>
            </a:extLst>
          </p:cNvPr>
          <p:cNvSpPr txBox="1"/>
          <p:nvPr/>
        </p:nvSpPr>
        <p:spPr>
          <a:xfrm>
            <a:off x="-3371774" y="81849"/>
            <a:ext cx="10542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Sea Level Rise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CADEE8-4635-F846-1C34-36252EA1803B}"/>
              </a:ext>
            </a:extLst>
          </p:cNvPr>
          <p:cNvSpPr/>
          <p:nvPr/>
        </p:nvSpPr>
        <p:spPr>
          <a:xfrm>
            <a:off x="2917067" y="1300357"/>
            <a:ext cx="4987636" cy="328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E40676-D3D8-0E65-3C34-E244DCB3C9F9}"/>
              </a:ext>
            </a:extLst>
          </p:cNvPr>
          <p:cNvSpPr/>
          <p:nvPr/>
        </p:nvSpPr>
        <p:spPr>
          <a:xfrm>
            <a:off x="419985" y="1244789"/>
            <a:ext cx="2269375" cy="328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320000-24B8-B97D-A4EA-8C6358F6C125}"/>
              </a:ext>
            </a:extLst>
          </p:cNvPr>
          <p:cNvSpPr txBox="1"/>
          <p:nvPr/>
        </p:nvSpPr>
        <p:spPr>
          <a:xfrm>
            <a:off x="588776" y="1235979"/>
            <a:ext cx="1581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Hazard</a:t>
            </a:r>
            <a:r>
              <a:rPr lang="en-AU" dirty="0"/>
              <a:t> </a:t>
            </a:r>
          </a:p>
          <a:p>
            <a:r>
              <a:rPr lang="en-AU" sz="1200" dirty="0"/>
              <a:t> Wind</a:t>
            </a:r>
          </a:p>
          <a:p>
            <a:r>
              <a:rPr lang="en-AU" sz="1200" i="1" dirty="0"/>
              <a:t>C Inundation</a:t>
            </a:r>
          </a:p>
          <a:p>
            <a:r>
              <a:rPr lang="en-AU" sz="1200" i="1" dirty="0"/>
              <a:t>Pluvial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51605-0D2A-0C40-863D-7B45CEEAA93D}"/>
              </a:ext>
            </a:extLst>
          </p:cNvPr>
          <p:cNvSpPr txBox="1"/>
          <p:nvPr/>
        </p:nvSpPr>
        <p:spPr>
          <a:xfrm>
            <a:off x="492790" y="2224386"/>
            <a:ext cx="22905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Clusters</a:t>
            </a:r>
          </a:p>
          <a:p>
            <a:r>
              <a:rPr lang="en-AU" sz="1200" dirty="0"/>
              <a:t>Agriculture</a:t>
            </a:r>
          </a:p>
          <a:p>
            <a:r>
              <a:rPr lang="en-AU" sz="1200" dirty="0"/>
              <a:t>Social</a:t>
            </a:r>
          </a:p>
          <a:p>
            <a:r>
              <a:rPr lang="en-AU" sz="1200" dirty="0"/>
              <a:t>Health</a:t>
            </a:r>
          </a:p>
          <a:p>
            <a:endParaRPr lang="en-AU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E228AE-05FA-6806-4262-764BAA605C92}"/>
              </a:ext>
            </a:extLst>
          </p:cNvPr>
          <p:cNvSpPr txBox="1"/>
          <p:nvPr/>
        </p:nvSpPr>
        <p:spPr>
          <a:xfrm>
            <a:off x="463870" y="3147651"/>
            <a:ext cx="2101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/>
              <a:t>Aggregation unit</a:t>
            </a:r>
          </a:p>
          <a:p>
            <a:r>
              <a:rPr lang="en-AU" sz="1200" dirty="0"/>
              <a:t>Districts</a:t>
            </a:r>
          </a:p>
          <a:p>
            <a:r>
              <a:rPr lang="en-AU" sz="1200" dirty="0"/>
              <a:t>Province</a:t>
            </a:r>
          </a:p>
          <a:p>
            <a:r>
              <a:rPr lang="en-AU" sz="1200" dirty="0" err="1"/>
              <a:t>Nationsl</a:t>
            </a:r>
            <a:endParaRPr lang="en-A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BBD97-B871-1BE3-AE53-ED4104F6EEAE}"/>
              </a:ext>
            </a:extLst>
          </p:cNvPr>
          <p:cNvSpPr txBox="1"/>
          <p:nvPr/>
        </p:nvSpPr>
        <p:spPr>
          <a:xfrm>
            <a:off x="3023590" y="1315277"/>
            <a:ext cx="247243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MAP</a:t>
            </a:r>
          </a:p>
          <a:p>
            <a:r>
              <a:rPr lang="en-AU" sz="1200" dirty="0"/>
              <a:t>- OSM</a:t>
            </a:r>
          </a:p>
          <a:p>
            <a:r>
              <a:rPr lang="en-AU" sz="1200" dirty="0"/>
              <a:t>- TC track intensity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AC571E-4438-DD3E-0ED6-3A38B45034D4}"/>
              </a:ext>
            </a:extLst>
          </p:cNvPr>
          <p:cNvSpPr/>
          <p:nvPr/>
        </p:nvSpPr>
        <p:spPr>
          <a:xfrm>
            <a:off x="447497" y="619709"/>
            <a:ext cx="2335876" cy="47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TC EVENT current and archived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897E5C-2229-BD2C-5701-E1F72C6CD562}"/>
              </a:ext>
            </a:extLst>
          </p:cNvPr>
          <p:cNvSpPr/>
          <p:nvPr/>
        </p:nvSpPr>
        <p:spPr>
          <a:xfrm>
            <a:off x="8129835" y="1300357"/>
            <a:ext cx="3906993" cy="328352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961628-025E-F5BD-6D94-416621EC1E1A}"/>
              </a:ext>
            </a:extLst>
          </p:cNvPr>
          <p:cNvSpPr txBox="1"/>
          <p:nvPr/>
        </p:nvSpPr>
        <p:spPr>
          <a:xfrm>
            <a:off x="8403302" y="1397674"/>
            <a:ext cx="32117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PIE/BAR CHARTS: </a:t>
            </a:r>
          </a:p>
          <a:p>
            <a:endParaRPr lang="en-AU" sz="1200" dirty="0"/>
          </a:p>
          <a:p>
            <a:r>
              <a:rPr lang="en-AU" sz="1200" dirty="0"/>
              <a:t>Per hazard/sector/cluster/district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33D6FF-3171-4734-BA16-1D8E794BFB66}"/>
              </a:ext>
            </a:extLst>
          </p:cNvPr>
          <p:cNvSpPr/>
          <p:nvPr/>
        </p:nvSpPr>
        <p:spPr>
          <a:xfrm>
            <a:off x="5275140" y="594270"/>
            <a:ext cx="2335876" cy="47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upload Impact evidences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6F13AF4-68B4-A191-DE13-37EBCED51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77553"/>
              </p:ext>
            </p:extLst>
          </p:nvPr>
        </p:nvGraphicFramePr>
        <p:xfrm>
          <a:off x="447497" y="6571328"/>
          <a:ext cx="115560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429">
                  <a:extLst>
                    <a:ext uri="{9D8B030D-6E8A-4147-A177-3AD203B41FA5}">
                      <a16:colId xmlns:a16="http://schemas.microsoft.com/office/drawing/2014/main" val="3555336879"/>
                    </a:ext>
                  </a:extLst>
                </a:gridCol>
                <a:gridCol w="844587">
                  <a:extLst>
                    <a:ext uri="{9D8B030D-6E8A-4147-A177-3AD203B41FA5}">
                      <a16:colId xmlns:a16="http://schemas.microsoft.com/office/drawing/2014/main" val="3205277893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3426577246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3911120941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2885745286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1201892068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3023471665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1885940602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6087168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District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AU" dirty="0"/>
                        <a:t>Exposure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CI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Pluvial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AU" dirty="0"/>
                        <a:t>Economic damage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0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Wind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Pluvial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Wind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Pluvial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5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13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8567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491EF8D-8DFE-4510-AB01-A3C3E7547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82495"/>
              </p:ext>
            </p:extLst>
          </p:nvPr>
        </p:nvGraphicFramePr>
        <p:xfrm>
          <a:off x="447497" y="4726604"/>
          <a:ext cx="11556072" cy="1478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429">
                  <a:extLst>
                    <a:ext uri="{9D8B030D-6E8A-4147-A177-3AD203B41FA5}">
                      <a16:colId xmlns:a16="http://schemas.microsoft.com/office/drawing/2014/main" val="3555336879"/>
                    </a:ext>
                  </a:extLst>
                </a:gridCol>
                <a:gridCol w="1029474">
                  <a:extLst>
                    <a:ext uri="{9D8B030D-6E8A-4147-A177-3AD203B41FA5}">
                      <a16:colId xmlns:a16="http://schemas.microsoft.com/office/drawing/2014/main" val="3205277893"/>
                    </a:ext>
                  </a:extLst>
                </a:gridCol>
                <a:gridCol w="1099121">
                  <a:extLst>
                    <a:ext uri="{9D8B030D-6E8A-4147-A177-3AD203B41FA5}">
                      <a16:colId xmlns:a16="http://schemas.microsoft.com/office/drawing/2014/main" val="3426577246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3911120941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2885745286"/>
                    </a:ext>
                  </a:extLst>
                </a:gridCol>
                <a:gridCol w="1284008">
                  <a:extLst>
                    <a:ext uri="{9D8B030D-6E8A-4147-A177-3AD203B41FA5}">
                      <a16:colId xmlns:a16="http://schemas.microsoft.com/office/drawing/2014/main" val="1201892068"/>
                    </a:ext>
                  </a:extLst>
                </a:gridCol>
                <a:gridCol w="857701">
                  <a:extLst>
                    <a:ext uri="{9D8B030D-6E8A-4147-A177-3AD203B41FA5}">
                      <a16:colId xmlns:a16="http://schemas.microsoft.com/office/drawing/2014/main" val="3023471665"/>
                    </a:ext>
                  </a:extLst>
                </a:gridCol>
                <a:gridCol w="808522">
                  <a:extLst>
                    <a:ext uri="{9D8B030D-6E8A-4147-A177-3AD203B41FA5}">
                      <a16:colId xmlns:a16="http://schemas.microsoft.com/office/drawing/2014/main" val="1885940602"/>
                    </a:ext>
                  </a:extLst>
                </a:gridCol>
                <a:gridCol w="741146">
                  <a:extLst>
                    <a:ext uri="{9D8B030D-6E8A-4147-A177-3AD203B41FA5}">
                      <a16:colId xmlns:a16="http://schemas.microsoft.com/office/drawing/2014/main" val="608716812"/>
                    </a:ext>
                  </a:extLst>
                </a:gridCol>
                <a:gridCol w="1444655">
                  <a:extLst>
                    <a:ext uri="{9D8B030D-6E8A-4147-A177-3AD203B41FA5}">
                      <a16:colId xmlns:a16="http://schemas.microsoft.com/office/drawing/2014/main" val="3510654167"/>
                    </a:ext>
                  </a:extLst>
                </a:gridCol>
              </a:tblGrid>
              <a:tr h="366155">
                <a:tc>
                  <a:txBody>
                    <a:bodyPr/>
                    <a:lstStyle/>
                    <a:p>
                      <a:r>
                        <a:rPr lang="en-AU" dirty="0"/>
                        <a:t>District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AU" dirty="0"/>
                        <a:t>Exposure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CI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Pluvial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AU" dirty="0"/>
                        <a:t>Economic damage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400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Crops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Building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Crops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/>
                        <a:t>Total $USD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457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400" dirty="0"/>
                        <a:t>Telecom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136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185672"/>
                  </a:ext>
                </a:extLst>
              </a:tr>
            </a:tbl>
          </a:graphicData>
        </a:graphic>
      </p:graphicFrame>
      <p:sp>
        <p:nvSpPr>
          <p:cNvPr id="19" name="AutoShape 2" descr="A pie chart showing the various socio-economic sectors that benefited from CSR of mining companies (adapted from Ghana Chamber of Mines, 2012). ">
            <a:extLst>
              <a:ext uri="{FF2B5EF4-FFF2-40B4-BE49-F238E27FC236}">
                <a16:creationId xmlns:a16="http://schemas.microsoft.com/office/drawing/2014/main" id="{FA5ACADD-EBE5-2729-B462-3BD71DAB79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5AACF57-4FC0-EFC7-CB70-8EB8AE177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413" y="2149546"/>
            <a:ext cx="3443047" cy="228537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E7E8CF8-D83C-4272-97DC-22CEBD92AB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599"/>
          <a:stretch/>
        </p:blipFill>
        <p:spPr>
          <a:xfrm>
            <a:off x="4543398" y="1365276"/>
            <a:ext cx="3043763" cy="2954317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E3B490B-1D6C-0EA2-6A33-89A5FCF14FE2}"/>
              </a:ext>
            </a:extLst>
          </p:cNvPr>
          <p:cNvSpPr/>
          <p:nvPr/>
        </p:nvSpPr>
        <p:spPr>
          <a:xfrm>
            <a:off x="5074273" y="2712274"/>
            <a:ext cx="2251550" cy="1648743"/>
          </a:xfrm>
          <a:custGeom>
            <a:avLst/>
            <a:gdLst>
              <a:gd name="connsiteX0" fmla="*/ 0 w 4504623"/>
              <a:gd name="connsiteY0" fmla="*/ 4109417 h 4109417"/>
              <a:gd name="connsiteX1" fmla="*/ 490889 w 4504623"/>
              <a:gd name="connsiteY1" fmla="*/ 3483774 h 4109417"/>
              <a:gd name="connsiteX2" fmla="*/ 1848051 w 4504623"/>
              <a:gd name="connsiteY2" fmla="*/ 2887008 h 4109417"/>
              <a:gd name="connsiteX3" fmla="*/ 2666198 w 4504623"/>
              <a:gd name="connsiteY3" fmla="*/ 2424996 h 4109417"/>
              <a:gd name="connsiteX4" fmla="*/ 2858703 w 4504623"/>
              <a:gd name="connsiteY4" fmla="*/ 1712726 h 4109417"/>
              <a:gd name="connsiteX5" fmla="*/ 2935706 w 4504623"/>
              <a:gd name="connsiteY5" fmla="*/ 644322 h 4109417"/>
              <a:gd name="connsiteX6" fmla="*/ 3484346 w 4504623"/>
              <a:gd name="connsiteY6" fmla="*/ 47556 h 4109417"/>
              <a:gd name="connsiteX7" fmla="*/ 4504623 w 4504623"/>
              <a:gd name="connsiteY7" fmla="*/ 37930 h 4109417"/>
              <a:gd name="connsiteX8" fmla="*/ 4504623 w 4504623"/>
              <a:gd name="connsiteY8" fmla="*/ 37930 h 4109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4623" h="4109417">
                <a:moveTo>
                  <a:pt x="0" y="4109417"/>
                </a:moveTo>
                <a:cubicBezTo>
                  <a:pt x="91440" y="3898463"/>
                  <a:pt x="182881" y="3687509"/>
                  <a:pt x="490889" y="3483774"/>
                </a:cubicBezTo>
                <a:cubicBezTo>
                  <a:pt x="798897" y="3280039"/>
                  <a:pt x="1485500" y="3063471"/>
                  <a:pt x="1848051" y="2887008"/>
                </a:cubicBezTo>
                <a:cubicBezTo>
                  <a:pt x="2210602" y="2710545"/>
                  <a:pt x="2497756" y="2620710"/>
                  <a:pt x="2666198" y="2424996"/>
                </a:cubicBezTo>
                <a:cubicBezTo>
                  <a:pt x="2834640" y="2229282"/>
                  <a:pt x="2813785" y="2009505"/>
                  <a:pt x="2858703" y="1712726"/>
                </a:cubicBezTo>
                <a:cubicBezTo>
                  <a:pt x="2903621" y="1415947"/>
                  <a:pt x="2831432" y="921850"/>
                  <a:pt x="2935706" y="644322"/>
                </a:cubicBezTo>
                <a:cubicBezTo>
                  <a:pt x="3039980" y="366794"/>
                  <a:pt x="3222860" y="148621"/>
                  <a:pt x="3484346" y="47556"/>
                </a:cubicBezTo>
                <a:cubicBezTo>
                  <a:pt x="3745832" y="-53509"/>
                  <a:pt x="4504623" y="37930"/>
                  <a:pt x="4504623" y="37930"/>
                </a:cubicBezTo>
                <a:lnTo>
                  <a:pt x="4504623" y="37930"/>
                </a:lnTo>
              </a:path>
            </a:pathLst>
          </a:cu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1B73F-E7A8-7679-5466-D5575489B9DF}"/>
              </a:ext>
            </a:extLst>
          </p:cNvPr>
          <p:cNvSpPr/>
          <p:nvPr/>
        </p:nvSpPr>
        <p:spPr>
          <a:xfrm>
            <a:off x="9735809" y="579216"/>
            <a:ext cx="2335876" cy="473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Generate PDF 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2F0864-CE8C-B4F6-8E11-558CF29119E8}"/>
              </a:ext>
            </a:extLst>
          </p:cNvPr>
          <p:cNvSpPr/>
          <p:nvPr/>
        </p:nvSpPr>
        <p:spPr>
          <a:xfrm>
            <a:off x="447497" y="653346"/>
            <a:ext cx="2335876" cy="4735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TC EVENT current and archived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21E262-9CD3-87FF-06E2-0C47ADB5697B}"/>
              </a:ext>
            </a:extLst>
          </p:cNvPr>
          <p:cNvSpPr/>
          <p:nvPr/>
        </p:nvSpPr>
        <p:spPr>
          <a:xfrm>
            <a:off x="5275140" y="627907"/>
            <a:ext cx="2335876" cy="4735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upload Impact evidences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61E46-CF7A-1B0D-B716-2B5255D7FCE8}"/>
              </a:ext>
            </a:extLst>
          </p:cNvPr>
          <p:cNvSpPr/>
          <p:nvPr/>
        </p:nvSpPr>
        <p:spPr>
          <a:xfrm>
            <a:off x="9735809" y="612853"/>
            <a:ext cx="2335876" cy="473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effectLst>
            <a:softEdge rad="25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Generate PDF report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2CD0D4-72D4-8592-17B3-163F8BF58EAE}"/>
              </a:ext>
            </a:extLst>
          </p:cNvPr>
          <p:cNvSpPr txBox="1"/>
          <p:nvPr/>
        </p:nvSpPr>
        <p:spPr>
          <a:xfrm>
            <a:off x="511395" y="6204654"/>
            <a:ext cx="11556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AU" dirty="0"/>
              <a:t>Clusters proposed by the countries: </a:t>
            </a:r>
            <a:r>
              <a:rPr lang="en-AU" sz="1800" i="0" u="none" strike="noStrike" kern="1200" dirty="0">
                <a:effectLst/>
                <a:latin typeface="Calibri" panose="020F0502020204030204" pitchFamily="34" charset="0"/>
              </a:rPr>
              <a:t>Health</a:t>
            </a:r>
            <a:r>
              <a:rPr lang="en-AU" dirty="0">
                <a:latin typeface="Arial" panose="020B0604020202020204" pitchFamily="34" charset="0"/>
              </a:rPr>
              <a:t>, </a:t>
            </a:r>
            <a:r>
              <a:rPr lang="en-AU" sz="1800" i="0" u="none" strike="noStrike" kern="1200" dirty="0">
                <a:effectLst/>
                <a:latin typeface="Calibri" panose="020F0502020204030204" pitchFamily="34" charset="0"/>
              </a:rPr>
              <a:t>Education, Gender, Water and sanitation, Food security</a:t>
            </a:r>
            <a:endParaRPr lang="en-AU" sz="1800" i="0" u="none" strike="noStrike" dirty="0">
              <a:effectLst/>
              <a:latin typeface="Arial" panose="020B0604020202020204" pitchFamily="34" charset="0"/>
            </a:endParaRPr>
          </a:p>
          <a:p>
            <a:endParaRPr lang="en-A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3B1772-D78B-71D1-38C3-C9E90FF7E713}"/>
              </a:ext>
            </a:extLst>
          </p:cNvPr>
          <p:cNvSpPr txBox="1"/>
          <p:nvPr/>
        </p:nvSpPr>
        <p:spPr>
          <a:xfrm>
            <a:off x="443116" y="3923733"/>
            <a:ext cx="2290583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dirty="0"/>
              <a:t>Result</a:t>
            </a:r>
          </a:p>
          <a:p>
            <a:r>
              <a:rPr lang="en-AU" sz="1200" dirty="0"/>
              <a:t>Exposure</a:t>
            </a:r>
          </a:p>
          <a:p>
            <a:r>
              <a:rPr lang="en-AU" sz="1200" dirty="0"/>
              <a:t>impact</a:t>
            </a:r>
          </a:p>
          <a:p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1209331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D435BEE-56A9-9332-9137-EAD70986B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47894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4AB7C6-F87A-8D0E-D333-0E45B43C06CD}"/>
              </a:ext>
            </a:extLst>
          </p:cNvPr>
          <p:cNvSpPr txBox="1"/>
          <p:nvPr/>
        </p:nvSpPr>
        <p:spPr>
          <a:xfrm>
            <a:off x="121921" y="4913153"/>
            <a:ext cx="5994399" cy="181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NZ" sz="15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Sioeli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Lolohea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Yvette Turua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Johnny Tari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Malia Pisi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Juli Ungaro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Eileen Turare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Shaun Williams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Litea Biukoto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Herve Damlamian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Ryan Paulik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Sachindra Singh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Rebecca Welsh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Judith Giblin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Cyprien Bosserelle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Rose Pearson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Antonio Espejo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Samantha Krawczyk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Amit Singh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Tim Beale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Orisi Naivalurua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Luisa Hosse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Nicholas Metherall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Thompson Auri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Kaliopate Tavola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James Battersby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Merelita Lewabete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Divesh Anuj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Sione Sunia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NZ" sz="1500" kern="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Samisoni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Waqavakatoga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Andra Whiteside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NZ" sz="15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Rose Kuru</a:t>
            </a:r>
            <a:r>
              <a:rPr lang="en-NZ" sz="1500" kern="100" baseline="300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lang="en-NZ" sz="1500" kern="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10F387-4321-D1D4-561A-2B80F9B399AD}"/>
              </a:ext>
            </a:extLst>
          </p:cNvPr>
          <p:cNvSpPr txBox="1"/>
          <p:nvPr/>
        </p:nvSpPr>
        <p:spPr>
          <a:xfrm>
            <a:off x="6370320" y="4842033"/>
            <a:ext cx="58216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National Disaster Risk Management Office, MEIDECC, Tonga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Climate Change Cook Islands, Office of the Prime Minister, Cook Islands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National Disaster Management Office, Ministry of Climate Change and Adaptation, Vanuatu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National Disaster Management Office, MNRE, Samoa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NIWA Taihoro Nukurangi, Aotearoa New Zealand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Geoscience, Energy and Maritime Division, The Pacific Community, Fiji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Regional Meteorological Services Centre for WMO Region-5, FMS, Fiji</a:t>
            </a:r>
          </a:p>
          <a:p>
            <a:r>
              <a:rPr lang="en-NZ" sz="14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Catalyst IT, Christchurch, Aotearoa New Zealand</a:t>
            </a:r>
          </a:p>
        </p:txBody>
      </p:sp>
    </p:spTree>
    <p:extLst>
      <p:ext uri="{BB962C8B-B14F-4D97-AF65-F5344CB8AC3E}">
        <p14:creationId xmlns:p14="http://schemas.microsoft.com/office/powerpoint/2010/main" val="319418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de8066-c6f4-470d-bdc1-13b1856d3b26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974A0F609D4A04DAC2DE401DBAE6FF3" ma:contentTypeVersion="21" ma:contentTypeDescription="Create a new document." ma:contentTypeScope="" ma:versionID="90cc1de3ef98b03e9415aef4c2d47c0e">
  <xsd:schema xmlns:xsd="http://www.w3.org/2001/XMLSchema" xmlns:xs="http://www.w3.org/2001/XMLSchema" xmlns:p="http://schemas.microsoft.com/office/2006/metadata/properties" xmlns:ns1="http://schemas.microsoft.com/sharepoint/v3" xmlns:ns3="baefa5de-6352-410f-a605-d05e23f786e4" xmlns:ns4="5dde8066-c6f4-470d-bdc1-13b1856d3b26" targetNamespace="http://schemas.microsoft.com/office/2006/metadata/properties" ma:root="true" ma:fieldsID="4d11687b900e4c4689fe13787c813d9e" ns1:_="" ns3:_="" ns4:_="">
    <xsd:import namespace="http://schemas.microsoft.com/sharepoint/v3"/>
    <xsd:import namespace="baefa5de-6352-410f-a605-d05e23f786e4"/>
    <xsd:import namespace="5dde8066-c6f4-470d-bdc1-13b1856d3b2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efa5de-6352-410f-a605-d05e23f786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e8066-c6f4-470d-bdc1-13b1856d3b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7B5FBD-D7DC-4250-BC1E-6C6A68AB0EE0}">
  <ds:schemaRefs>
    <ds:schemaRef ds:uri="http://schemas.microsoft.com/office/infopath/2007/PartnerControls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baefa5de-6352-410f-a605-d05e23f786e4"/>
    <ds:schemaRef ds:uri="http://purl.org/dc/terms/"/>
    <ds:schemaRef ds:uri="5dde8066-c6f4-470d-bdc1-13b1856d3b26"/>
  </ds:schemaRefs>
</ds:datastoreItem>
</file>

<file path=customXml/itemProps2.xml><?xml version="1.0" encoding="utf-8"?>
<ds:datastoreItem xmlns:ds="http://schemas.openxmlformats.org/officeDocument/2006/customXml" ds:itemID="{762AA769-B5B2-4990-BEF8-D8DE3B4A8D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52D4C4-5E35-4ED2-A4E7-70E32D25F6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aefa5de-6352-410f-a605-d05e23f786e4"/>
    <ds:schemaRef ds:uri="5dde8066-c6f4-470d-bdc1-13b1856d3b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672</Words>
  <Application>Microsoft Office PowerPoint</Application>
  <PresentationFormat>Widescreen</PresentationFormat>
  <Paragraphs>120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Cambria</vt:lpstr>
      <vt:lpstr>Office Theme</vt:lpstr>
      <vt:lpstr>PowerPoint Presentation</vt:lpstr>
      <vt:lpstr>PARTneR-II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Antonio E. Hermosa</dc:creator>
  <cp:lastModifiedBy>Herve Damlamian</cp:lastModifiedBy>
  <cp:revision>11</cp:revision>
  <dcterms:created xsi:type="dcterms:W3CDTF">2024-02-13T20:51:09Z</dcterms:created>
  <dcterms:modified xsi:type="dcterms:W3CDTF">2025-11-07T00:35:55Z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0x0101001974A0F609D4A04DAC2DE401DBAE6FF3</vt:lpwstr>
  </property>
</Properties>
</file>